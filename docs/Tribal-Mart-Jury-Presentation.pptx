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80760"/>
            <a:ext cx="5029200" cy="228600"/>
          </a:xfrm>
          <a:prstGeom prst="rect">
            <a:avLst/>
          </a:prstGeom>
          <a:solidFill>
            <a:srgbClr val="D994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7315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7315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7315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5087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5087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15087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15087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2860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22860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22860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22860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06324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306324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306324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0" y="306324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84048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384048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384048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0" y="384048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6177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4480" y="46177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46177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1920" y="461772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53949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29" name="Shape 27"/>
          <p:cNvSpPr/>
          <p:nvPr/>
        </p:nvSpPr>
        <p:spPr>
          <a:xfrm>
            <a:off x="1554480" y="53949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0" y="53949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1" name="Shape 29"/>
          <p:cNvSpPr/>
          <p:nvPr/>
        </p:nvSpPr>
        <p:spPr>
          <a:xfrm>
            <a:off x="3931920" y="539496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61722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3" name="Shape 31"/>
          <p:cNvSpPr/>
          <p:nvPr/>
        </p:nvSpPr>
        <p:spPr>
          <a:xfrm>
            <a:off x="1554480" y="61722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0" y="61722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5" name="Shape 33"/>
          <p:cNvSpPr/>
          <p:nvPr/>
        </p:nvSpPr>
        <p:spPr>
          <a:xfrm>
            <a:off x="3931920" y="6172200"/>
            <a:ext cx="320040" cy="320040"/>
          </a:xfrm>
          <a:prstGeom prst="diamond">
            <a:avLst/>
          </a:prstGeom>
          <a:solidFill>
            <a:srgbClr val="8E3B1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109728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</a:t>
            </a:r>
            <a:endParaRPr lang="en-US" sz="8000" dirty="0"/>
          </a:p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</a:t>
            </a:r>
            <a:endParaRPr lang="en-US" sz="8000" dirty="0"/>
          </a:p>
        </p:txBody>
      </p:sp>
      <p:sp>
        <p:nvSpPr>
          <p:cNvPr id="37" name="Text 35"/>
          <p:cNvSpPr/>
          <p:nvPr/>
        </p:nvSpPr>
        <p:spPr>
          <a:xfrm>
            <a:off x="5486400" y="34747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India's tribal craft meets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conscious commerce.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0" y="457200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four-portal marketplace with an Agent-assisted listing workflow and Hindi/English instant switch — built for the cooperatives who actually craft the goods sold here.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0" y="5943600"/>
            <a:ext cx="3657600" cy="0"/>
          </a:xfrm>
          <a:prstGeom prst="line">
            <a:avLst/>
          </a:prstGeom>
          <a:noFill/>
          <a:ln w="38100">
            <a:solidFill>
              <a:srgbClr val="C055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60350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Jury Presentation  ·  v1.0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A1410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artisans are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off from the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marketplaces have two sides — buyer and seller. But India's tribal cooperatives often don't fit the seller role. Many craftspeople are older, speak only their local language, and have never opened a digital storefront.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10972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3ECE1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1887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population in India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278892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3ECE1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7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artisans don't sell online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448056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3ECE1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5720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3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of 10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5349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income to middlemen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·  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a third side: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helper who can list and manage products on behalf of artisans — with their consent. The agent gets a 5% commission. The artisan's craft reaches a wider audience without learning a new tool. Everyone wins.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B070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cooperative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42062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C0552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4983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helper · 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42062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E3A5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4983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buyers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4754880"/>
            <a:ext cx="594360" cy="274320"/>
          </a:xfrm>
          <a:prstGeom prst="rightArrow">
            <a:avLst/>
          </a:prstGeom>
          <a:solidFill>
            <a:srgbClr val="1A1410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3800" y="4754880"/>
            <a:ext cx="594360" cy="274320"/>
          </a:xfrm>
          <a:prstGeom prst="rightArrow">
            <a:avLst/>
          </a:prstGeom>
          <a:solidFill>
            <a:srgbClr val="1A141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fourth role — Admin — keeps the marketplace honest.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·  FOUR PORTALS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roles. Four panels.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663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8CC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228600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10312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2E3A5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authentic tribal craft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4128" y="3154680"/>
            <a:ext cx="91440" cy="91440"/>
          </a:xfrm>
          <a:prstGeom prst="ellipse">
            <a:avLst/>
          </a:prstGeom>
          <a:solidFill>
            <a:srgbClr val="2E3A59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+ search + filters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4128" y="3474720"/>
            <a:ext cx="91440" cy="91440"/>
          </a:xfrm>
          <a:prstGeom prst="ellipse">
            <a:avLst/>
          </a:prstGeom>
          <a:solidFill>
            <a:srgbClr val="2E3A59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3832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cart + checkout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4128" y="3794760"/>
            <a:ext cx="91440" cy="91440"/>
          </a:xfrm>
          <a:prstGeom prst="ellipse">
            <a:avLst/>
          </a:prstGeom>
          <a:solidFill>
            <a:srgbClr val="2E3A59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703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orders + reviews + returns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1828800"/>
            <a:ext cx="51663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8CC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828800"/>
            <a:ext cx="109728" cy="2286000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210312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B0702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103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2697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cooperative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39128" y="3154680"/>
            <a:ext cx="91440" cy="91440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0632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duplicate products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39128" y="3474720"/>
            <a:ext cx="91440" cy="91440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3832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 orders + tracking + payouts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39128" y="3794760"/>
            <a:ext cx="91440" cy="91440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3703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⇄ English instant toggle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51663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8CC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343400"/>
            <a:ext cx="109728" cy="2286000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" y="461772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C0552C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46177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4572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0120" y="52120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helper for artisans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24128" y="5669280"/>
            <a:ext cx="91440" cy="914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36" name="Text 34"/>
          <p:cNvSpPr/>
          <p:nvPr/>
        </p:nvSpPr>
        <p:spPr>
          <a:xfrm>
            <a:off x="1234440" y="55778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agency requests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24128" y="5989320"/>
            <a:ext cx="91440" cy="914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38" name="Text 36"/>
          <p:cNvSpPr/>
          <p:nvPr/>
        </p:nvSpPr>
        <p:spPr>
          <a:xfrm>
            <a:off x="1234440" y="58978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products on their behalf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24128" y="6309360"/>
            <a:ext cx="91440" cy="914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40" name="Text 38"/>
          <p:cNvSpPr/>
          <p:nvPr/>
        </p:nvSpPr>
        <p:spPr>
          <a:xfrm>
            <a:off x="1234440" y="6217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commission per approved sale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4343400"/>
            <a:ext cx="51663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8CCB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4343400"/>
            <a:ext cx="109728" cy="22860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5120" y="461772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A1410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46177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4572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675120" y="52120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steward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39128" y="5669280"/>
            <a:ext cx="91440" cy="91440"/>
          </a:xfrm>
          <a:prstGeom prst="ellipse">
            <a:avLst/>
          </a:prstGeom>
          <a:solidFill>
            <a:srgbClr val="1A1410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55778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listings + verify KYC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739128" y="5989320"/>
            <a:ext cx="91440" cy="91440"/>
          </a:xfrm>
          <a:prstGeom prst="ellipse">
            <a:avLst/>
          </a:prstGeom>
          <a:solidFill>
            <a:srgbClr val="1A1410"/>
          </a:solidFill>
          <a:ln/>
        </p:spPr>
      </p:sp>
      <p:sp>
        <p:nvSpPr>
          <p:cNvPr id="50" name="Text 48"/>
          <p:cNvSpPr/>
          <p:nvPr/>
        </p:nvSpPr>
        <p:spPr>
          <a:xfrm>
            <a:off x="6949440" y="58978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dashboard + payouts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739128" y="6309360"/>
            <a:ext cx="91440" cy="91440"/>
          </a:xfrm>
          <a:prstGeom prst="ellipse">
            <a:avLst/>
          </a:prstGeom>
          <a:solidFill>
            <a:srgbClr val="1A1410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6217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+ featured curation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portals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E3A59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·  CUSTOMER PORTAL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to review.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dedicated pages. Every step of the buyer journey covered.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+ category + price filters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Multi-item cart with saved addresses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Order tracking timeline + cancel + reorder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Printable invoice download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Reviews &amp; star ratings after delivery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Returns within 7 days with status timeline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Watchlist → Move to Cart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Compare up to 4 products side-by-side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852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Profile: addresses, payments, avatar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868680"/>
            <a:ext cx="3749040" cy="5486400"/>
          </a:xfrm>
          <a:prstGeom prst="roundRect">
            <a:avLst>
              <a:gd name="adj" fmla="val 3902"/>
            </a:avLst>
          </a:prstGeom>
          <a:solidFill>
            <a:srgbClr val="2E3A59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0972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0" dirty="0"/>
          </a:p>
        </p:txBody>
      </p:sp>
      <p:sp>
        <p:nvSpPr>
          <p:cNvPr id="17" name="Text 15"/>
          <p:cNvSpPr/>
          <p:nvPr/>
        </p:nvSpPr>
        <p:spPr>
          <a:xfrm>
            <a:off x="8046720" y="32004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dedicated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buyer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61120" y="4297680"/>
            <a:ext cx="1920240" cy="0"/>
          </a:xfrm>
          <a:prstGeom prst="line">
            <a:avLst/>
          </a:prstGeom>
          <a:noFill/>
          <a:ln w="25400">
            <a:solidFill>
              <a:srgbClr val="D99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44805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Browse · Cart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Returns · Watchlist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· Profile · Reviews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B07020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·  AGENCY PORTAL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seller side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cooperatives.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D994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 ⇄  हिं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832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Hindi/English instant toggle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dashboard, stats, action cards — every label flips to Devanagari with one click. Built for the people who actually run tribal cooperatives.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🪔 Add / edit / duplicate listings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657600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657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Fulfilment: confirm → ship → deliver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245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Tracking IDs + printable packing slip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4224528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2245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Returns review + refund 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91456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91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Payouts: 10% commission + 18% GST + net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791456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791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Real-time sales &amp; conversion analytics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58384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583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Request agent help when needed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5358384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3ECE1"/>
          </a:solidFill>
          <a:ln w="3810">
            <a:solidFill>
              <a:srgbClr val="D8CC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53583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Cooperative badge after KYC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portal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·  AGENT PORTAL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bridge between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 and commerce.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role. The third side of the marketplace.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8163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30906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Agent portal · provide name + address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41071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requests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685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that want help send a request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502920" cy="50292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0050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793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agency joins your managed list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502920" cy="50292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5994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for them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873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on their behalf with one click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212080"/>
            <a:ext cx="502920" cy="50292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519379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468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commission on every approved sale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2651760"/>
            <a:ext cx="3566160" cy="3657600"/>
          </a:xfrm>
          <a:prstGeom prst="roundRect">
            <a:avLst>
              <a:gd name="adj" fmla="val 4103"/>
            </a:avLst>
          </a:prstGeom>
          <a:solidFill>
            <a:srgbClr val="C0552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9260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 per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sale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61120" y="5715000"/>
            <a:ext cx="2103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5852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agency,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monthly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portal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99441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·  ADMIN PORTAL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Stewardship at scale.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Approve. Verify. Settle. Audit. The platform stays honest because admins have the right tools.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377440" cy="3108960"/>
          </a:xfrm>
          <a:prstGeom prst="roundRect">
            <a:avLst>
              <a:gd name="adj" fmla="val 5385"/>
            </a:avLst>
          </a:prstGeom>
          <a:solidFill>
            <a:srgbClr val="C055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371600" y="4343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805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pending listings with checkboxes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2651760"/>
            <a:ext cx="2377440" cy="3108960"/>
          </a:xfrm>
          <a:prstGeom prst="roundRect">
            <a:avLst>
              <a:gd name="adj" fmla="val 5385"/>
            </a:avLst>
          </a:prstGeom>
          <a:solidFill>
            <a:srgbClr val="D9944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343400" y="4343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4805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cooperative documents → Verified badge unlocks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651760"/>
            <a:ext cx="2377440" cy="3108960"/>
          </a:xfrm>
          <a:prstGeom prst="roundRect">
            <a:avLst>
              <a:gd name="adj" fmla="val 5385"/>
            </a:avLst>
          </a:prstGeom>
          <a:solidFill>
            <a:srgbClr val="4A6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7315200" y="4343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4805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→ 10% commission → 18% GST → net payable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55480" y="2651760"/>
            <a:ext cx="2377440" cy="3108960"/>
          </a:xfrm>
          <a:prstGeom prst="roundRect">
            <a:avLst>
              <a:gd name="adj" fmla="val 5385"/>
            </a:avLst>
          </a:prstGeom>
          <a:solidFill>
            <a:srgbClr val="2E3A59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10287000" y="4343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44805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detail · suspend · featured · categories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from a single Approve click to a settlement payout — is gated by role middleware and ownership checks on the backend.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·  CROSS-PORTAL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four panels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to each other.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product's journey, from the moment an agent uploads it to the moment a customer reviews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8825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B07020"/>
          </a:solidFill>
          <a:ln/>
        </p:spPr>
      </p:sp>
      <p:sp>
        <p:nvSpPr>
          <p:cNvPr id="9" name="Text 7"/>
          <p:cNvSpPr/>
          <p:nvPr/>
        </p:nvSpPr>
        <p:spPr>
          <a:xfrm>
            <a:off x="2028825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Awaits agency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7570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D99441"/>
          </a:solidFill>
          <a:ln/>
        </p:spPr>
      </p:sp>
      <p:sp>
        <p:nvSpPr>
          <p:cNvPr id="11" name="Text 9"/>
          <p:cNvSpPr/>
          <p:nvPr/>
        </p:nvSpPr>
        <p:spPr>
          <a:xfrm>
            <a:off x="3417570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approves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6315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C08A2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6315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Awaits 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5060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4A6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195060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approves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3805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4A6A3A"/>
          </a:solidFill>
          <a:ln/>
        </p:spPr>
      </p:sp>
      <p:sp>
        <p:nvSpPr>
          <p:cNvPr id="17" name="Text 15"/>
          <p:cNvSpPr/>
          <p:nvPr/>
        </p:nvSpPr>
        <p:spPr>
          <a:xfrm>
            <a:off x="7583805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(approved)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2550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2E3A59"/>
          </a:solidFill>
          <a:ln/>
        </p:spPr>
      </p:sp>
      <p:sp>
        <p:nvSpPr>
          <p:cNvPr id="19" name="Text 17"/>
          <p:cNvSpPr/>
          <p:nvPr/>
        </p:nvSpPr>
        <p:spPr>
          <a:xfrm>
            <a:off x="8972550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buys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361295" y="2926080"/>
            <a:ext cx="1251585" cy="731520"/>
          </a:xfrm>
          <a:prstGeom prst="roundRect">
            <a:avLst>
              <a:gd name="adj" fmla="val 50000"/>
            </a:avLst>
          </a:prstGeom>
          <a:solidFill>
            <a:srgbClr val="2E3A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361295" y="2926080"/>
            <a:ext cx="1251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160520"/>
            <a:ext cx="3611880" cy="73152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370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Two-gate approval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listings go through Agency THEN Admin. Direct agency listings only need Admin. Customer never sees anything unverified.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0" y="41605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4160520"/>
            <a:ext cx="3611880" cy="73152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370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middleware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enforces who can transition each state. Agent can't approve their own listing; agency can't approve admin's queue.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21040" y="41605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160520"/>
            <a:ext cx="3611880" cy="73152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4370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updates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96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writes a timeline entry and flips notification counters on the right portal's bell.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Cross-portal flow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·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modern,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 tools.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8CC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109728" cy="39319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3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framework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712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71246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(no CRA)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224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Router 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42245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736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Framer Motion 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4736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gestures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52486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524865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with auth interceptor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5760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i18n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5760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EN/HI translation provider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46888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8CCB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468880"/>
            <a:ext cx="109728" cy="3931920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 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3712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Atlas + Mongoose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15400" y="371246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NoSQL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0" y="4224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+ bcrypt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15400" y="42245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password hashing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75120" y="4736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4736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(images / docs)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75120" y="52486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Razorpay SDK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15400" y="524865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75120" y="5760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DNS resolver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15400" y="5760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SRV on blocked networks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05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A1410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·  BY 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platform, today.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a clean main branch.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8E3B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portals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8E3B1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4231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4480560" y="35661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33172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8E3B1A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231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8321040" y="35661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8E3B1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43434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8E3B1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44348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800" dirty="0"/>
          </a:p>
        </p:txBody>
      </p:sp>
      <p:sp>
        <p:nvSpPr>
          <p:cNvPr id="20" name="Text 18"/>
          <p:cNvSpPr/>
          <p:nvPr/>
        </p:nvSpPr>
        <p:spPr>
          <a:xfrm>
            <a:off x="448056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(EN / हिं)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43434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8E3B1A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44348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6800" dirty="0"/>
          </a:p>
        </p:txBody>
      </p:sp>
      <p:sp>
        <p:nvSpPr>
          <p:cNvPr id="23" name="Text 21"/>
          <p:cNvSpPr/>
          <p:nvPr/>
        </p:nvSpPr>
        <p:spPr>
          <a:xfrm>
            <a:off x="832104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commission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· 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the jury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remember.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3611880" cy="73152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Hover-shuffle card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the product carousel on the landing page — cards cycle through one by one with spring physics. Click to jump, leave to settle.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377440"/>
            <a:ext cx="3611880" cy="73152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060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Hindi/English instant toggle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in the agency portal flips every label — sidebar, dashboard, stats, action cards — into Devanagari. Built for the actual sellers.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377440"/>
            <a:ext cx="3611880" cy="73152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26060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count-up stats + scroll reveals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315468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animate from 0 to value when scrolled into view. Every section fades up. Magnetic CTAs follow the cursor.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389120"/>
            <a:ext cx="3611880" cy="73152"/>
          </a:xfrm>
          <a:prstGeom prst="rect">
            <a:avLst/>
          </a:prstGeom>
          <a:solidFill>
            <a:srgbClr val="4A6A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assistance workflow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that can't run a digital store request an agent. Agent approves, lists products. Two-gate approval (agency → admin). 5% commission.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3891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389120"/>
            <a:ext cx="3611880" cy="73152"/>
          </a:xfrm>
          <a:prstGeom prst="rect">
            <a:avLst/>
          </a:prstGeom>
          <a:solidFill>
            <a:srgbClr val="8E3B1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617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3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marketplace lifecycle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516636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checkout (Razorpay) → tracking timeline → invoice → reviews → returns → refunds. Every state is real.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43891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4389120"/>
            <a:ext cx="3611880" cy="73152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4617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financial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9640" y="516636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GMV, 10% commission, 18% GST, payable to cooperatives — calculated live. Per-agency settlement table with Mark Paid buttons.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· 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seconds.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portal.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45059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76148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the card stack, scroll past Makers and animated stats.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548640" cy="5486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307238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Sign-up selector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38328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Agent → split-card login form slides into place.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3694176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(Tiya)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400507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→ Add to Cart → Checkout (saved address) → Orders.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548640" cy="5486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34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43159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(Bhil Crafts)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62686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 → हिं. Entire UI flips to Hindi. Mark order as Shipped → Print Packing Slip.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56048"/>
            <a:ext cx="548640" cy="5486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56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25880" y="49377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(Birsa)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524865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 incoming agency request → drill into their store → list a product for them.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577840"/>
            <a:ext cx="548640" cy="548640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77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325880" y="555955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(Sys Admin)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87044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Products → bulk approve 3 listings. Finance → mark a settlement as paid.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0" y="9144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3ECE1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1005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accounts: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0" y="129844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admin@setu.com / admin123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agency@demo.com / demo123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agent@demo.com / demo123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customer@demo.com / demo123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52C"/>
          </a:solidFill>
          <a:ln/>
        </p:spPr>
      </p:sp>
      <p:sp>
        <p:nvSpPr>
          <p:cNvPr id="3" name="Text 1"/>
          <p:cNvSpPr/>
          <p:nvPr/>
        </p:nvSpPr>
        <p:spPr>
          <a:xfrm>
            <a:off x="9997135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· 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here.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3611880" cy="109728"/>
          </a:xfrm>
          <a:prstGeom prst="rect">
            <a:avLst/>
          </a:prstGeom>
          <a:solidFill>
            <a:srgbClr val="4A6A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· 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now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0120" y="3520440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4-portal marketplace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3904488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13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+ 5% commission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4288536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970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Hindi/English toggle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4672584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581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orders, returns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5056632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965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120" y="5440680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financial dashboard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" y="5824728"/>
            <a:ext cx="109728" cy="109728"/>
          </a:xfrm>
          <a:prstGeom prst="ellipse">
            <a:avLst/>
          </a:prstGeom>
          <a:solidFill>
            <a:srgbClr val="4A6A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733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agency storefronts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26280" y="23774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2377440"/>
            <a:ext cx="3611880" cy="109728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30 days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46320" y="3520440"/>
            <a:ext cx="109728" cy="109728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Razorpay payment keys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904488"/>
            <a:ext cx="109728" cy="109728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813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notifications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4288536"/>
            <a:ext cx="109728" cy="109728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1970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product upload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4672584"/>
            <a:ext cx="109728" cy="109728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4581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bank/UPI payout integration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5056632"/>
            <a:ext cx="109728" cy="109728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4965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CDN (S3/Cloudinary)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5440680"/>
            <a:ext cx="109728" cy="109728"/>
          </a:xfrm>
          <a:prstGeom prst="ellipse">
            <a:avLst/>
          </a:prstGeom>
          <a:solidFill>
            <a:srgbClr val="B0702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flow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12480" y="23774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2377440"/>
            <a:ext cx="3611880" cy="109728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8732520" y="3520440"/>
            <a:ext cx="109728" cy="109728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44" name="Text 42"/>
          <p:cNvSpPr/>
          <p:nvPr/>
        </p:nvSpPr>
        <p:spPr>
          <a:xfrm>
            <a:off x="891540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regional languages (Marathi, Bengali, Tamil)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732520" y="3904488"/>
            <a:ext cx="109728" cy="109728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46" name="Text 44"/>
          <p:cNvSpPr/>
          <p:nvPr/>
        </p:nvSpPr>
        <p:spPr>
          <a:xfrm>
            <a:off x="8915400" y="3813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732520" y="4288536"/>
            <a:ext cx="109728" cy="109728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48" name="Text 46"/>
          <p:cNvSpPr/>
          <p:nvPr/>
        </p:nvSpPr>
        <p:spPr>
          <a:xfrm>
            <a:off x="8915400" y="41970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 tickets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672584"/>
            <a:ext cx="109728" cy="109728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50" name="Text 48"/>
          <p:cNvSpPr/>
          <p:nvPr/>
        </p:nvSpPr>
        <p:spPr>
          <a:xfrm>
            <a:off x="8915400" y="45811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reports + GST exports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732520" y="5056632"/>
            <a:ext cx="109728" cy="109728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52" name="Text 50"/>
          <p:cNvSpPr/>
          <p:nvPr/>
        </p:nvSpPr>
        <p:spPr>
          <a:xfrm>
            <a:off x="8915400" y="4965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(Algolia)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732520" y="5440680"/>
            <a:ext cx="109728" cy="109728"/>
          </a:xfrm>
          <a:prstGeom prst="ellipse">
            <a:avLst/>
          </a:prstGeom>
          <a:solidFill>
            <a:srgbClr val="C0552C"/>
          </a:solidFill>
          <a:ln/>
        </p:spPr>
      </p:sp>
      <p:sp>
        <p:nvSpPr>
          <p:cNvPr id="54" name="Text 52"/>
          <p:cNvSpPr/>
          <p:nvPr/>
        </p:nvSpPr>
        <p:spPr>
          <a:xfrm>
            <a:off x="891540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 browsing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D8CCBA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34095" y="6565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C7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C0552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4572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4572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4572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4572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4572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801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2801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2801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2801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2801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2801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031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21031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21031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21031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0" y="21031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1031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63040" y="292608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3" name="Shape 21"/>
          <p:cNvSpPr/>
          <p:nvPr/>
        </p:nvSpPr>
        <p:spPr>
          <a:xfrm>
            <a:off x="2651760" y="292608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0" y="292608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92608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292608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74904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3040" y="374904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1760" y="374904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0" y="374904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374904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74904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5720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4" name="Shape 32"/>
          <p:cNvSpPr/>
          <p:nvPr/>
        </p:nvSpPr>
        <p:spPr>
          <a:xfrm>
            <a:off x="1463040" y="45720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5" name="Shape 33"/>
          <p:cNvSpPr/>
          <p:nvPr/>
        </p:nvSpPr>
        <p:spPr>
          <a:xfrm>
            <a:off x="2651760" y="45720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6" name="Shape 34"/>
          <p:cNvSpPr/>
          <p:nvPr/>
        </p:nvSpPr>
        <p:spPr>
          <a:xfrm>
            <a:off x="3840480" y="45720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0" y="45720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457200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53949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0" name="Shape 38"/>
          <p:cNvSpPr/>
          <p:nvPr/>
        </p:nvSpPr>
        <p:spPr>
          <a:xfrm>
            <a:off x="1463040" y="53949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1" name="Shape 39"/>
          <p:cNvSpPr/>
          <p:nvPr/>
        </p:nvSpPr>
        <p:spPr>
          <a:xfrm>
            <a:off x="2651760" y="53949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0" y="53949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0" y="53949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539496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6" name="Shape 44"/>
          <p:cNvSpPr/>
          <p:nvPr/>
        </p:nvSpPr>
        <p:spPr>
          <a:xfrm>
            <a:off x="1463040" y="62179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7" name="Shape 45"/>
          <p:cNvSpPr/>
          <p:nvPr/>
        </p:nvSpPr>
        <p:spPr>
          <a:xfrm>
            <a:off x="2651760" y="62179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8" name="Shape 46"/>
          <p:cNvSpPr/>
          <p:nvPr/>
        </p:nvSpPr>
        <p:spPr>
          <a:xfrm>
            <a:off x="3840480" y="62179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49" name="Shape 47"/>
          <p:cNvSpPr/>
          <p:nvPr/>
        </p:nvSpPr>
        <p:spPr>
          <a:xfrm>
            <a:off x="5029200" y="62179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50" name="Shape 48"/>
          <p:cNvSpPr/>
          <p:nvPr/>
        </p:nvSpPr>
        <p:spPr>
          <a:xfrm>
            <a:off x="6217920" y="6217920"/>
            <a:ext cx="274320" cy="274320"/>
          </a:xfrm>
          <a:prstGeom prst="diamond">
            <a:avLst/>
          </a:prstGeom>
          <a:solidFill>
            <a:srgbClr val="C0552C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52" name="Text 50"/>
          <p:cNvSpPr/>
          <p:nvPr/>
        </p:nvSpPr>
        <p:spPr>
          <a:xfrm>
            <a:off x="640080" y="338328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care for India's tribal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communities — Bhil, Santhal,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Munda, Toda, Gond, and many others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 craft deserves a marketplace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respects their pace, their language,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99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their dignity.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72400" y="914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4" name="Text 52"/>
          <p:cNvSpPr/>
          <p:nvPr/>
        </p:nvSpPr>
        <p:spPr>
          <a:xfrm>
            <a:off x="7772400" y="2286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love to answer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questions.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77240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tribalmart.in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77240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hello@tribalmart.in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0" y="6400800"/>
            <a:ext cx="7772400" cy="457200"/>
          </a:xfrm>
          <a:prstGeom prst="rect">
            <a:avLst/>
          </a:prstGeom>
          <a:solidFill>
            <a:srgbClr val="D99441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6400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TRIBAL MART  ·  v1.0  ·  Made with ❤ in India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Tribal 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Tribal Mart — Jury Presentation</dc:title>
  <dc:subject>Four-portal marketplace for India's tribal cooperatives</dc:subject>
  <dc:creator>Tribal Mart</dc:creator>
  <cp:lastModifiedBy>Tribal Mart</cp:lastModifiedBy>
  <cp:revision>1</cp:revision>
  <dcterms:created xsi:type="dcterms:W3CDTF">2026-05-22T18:14:40Z</dcterms:created>
  <dcterms:modified xsi:type="dcterms:W3CDTF">2026-05-22T18:14:40Z</dcterms:modified>
</cp:coreProperties>
</file>